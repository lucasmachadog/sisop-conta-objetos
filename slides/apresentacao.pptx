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d04eafc-46fb-ba8c-e9ff-5e38ade358f8}">
          <p14:sldIdLst>
            <p14:sldId id="256"/>
          </p14:sldIdLst>
        </p14:section>
        <p14:section name="Problema e estratégia" id="{b8f5d001-2b79-6179-d6d8-bb2a1ce82e56}">
          <p14:sldIdLst>
            <p14:sldId id="257"/>
            <p14:sldId id="258"/>
          </p14:sldIdLst>
        </p14:section>
        <p14:section name="Implementação" id="{ad8f6e24-39d2-25ce-cf1b-4282600a0c7f}">
          <p14:sldIdLst>
            <p14:sldId id="259"/>
            <p14:sldId id="260"/>
            <p14:sldId id="261"/>
          </p14:sldIdLst>
        </p14:section>
        <p14:section name="Consolidação" id="{f568d6c8-a149-c01c-a50c-b0ef46d8d330}">
          <p14:sldIdLst>
            <p14:sldId id="262"/>
            <p14:sldId id="263"/>
          </p14:sldIdLst>
        </p14:section>
        <p14:section name="Resultados" id="{2743af31-7a0c-ada2-8727-9e9d6e48dfda}">
          <p14:sldIdLst>
            <p14:sldId id="264"/>
            <p14:sldId id="265"/>
            <p14:sldId id="266"/>
            <p14:sldId id="267"/>
          </p14:sldIdLst>
        </p14:section>
        <p14:section name="Encerramento" id="{a820aad4-e291-5798-77a3-ae1b57cd084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dupla e o tema. O trabalho conta objetos (componentes conexos com conectividade 8) em uma matriz binária, com uma versão sequencial de referência e uma versão paralela com POSIX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definição. Apontar no exemplo 1 que a célula de baixo à esquerda é um objeto isolado e a coluna da direita é outro. Antecipar o problema central: objetos que cruzam fronteiras.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a escolha: todos os trabalhadores precisam ler a mesma matriz e escrever nos mesmos rótulos. Com threads, a memória já é comum; o custo é ter que sincronizar. Resumo do slide de aula: processos para segurança, threads para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função contar_objetos_sequencial. Pontos-chave: marca ao empilhar, e não ao desempilhar, para não duplicar; a pilha é dinâmica (realloc), o que atende ao item 41 do enunciado sobre recursão excessiva. Esta versão é a referência de correção e de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montar_faixas e retirar_bloco. Mostrar que a quantidade de partes é maior que a de threads, o que o enunciado permite. A fila dinâmica é o escalonamento: quem termina antes pega outro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pthread_join entre as fases funciona como barreira (pthread_barrier não existe no macOS). Ressaltar que a maior parte da proteção vem do particionamento: cada thread escreve só no próprio bloco. Os mutexes protegem apenas o contador da fila e a union-find. Ordem de aquisição: nunca dois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com o modo -v. Na matriz 8000x8000, a soma simples erraria por 17 mil objetos com a grade 8x8. Os rótulos locais não dependem de qual thread processou o bloco, então os globais são sempre os mesmos.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Código: examinar_fronteiras, registrar_par e descarregar_pares. Explicar que a diagonal (3,3)-(4,4) liga dois blocos que só se tocam pela quina. Os pares ficam em um buffer privado e entram na região crítica em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ao vivo: compilar; rodar o exemplo 3 nas duas versões; mostrar o -v com a soma simples errada e as equivalências; rodar make test; rodar a matriz grande com -t 1 e -t 4 para comparar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resultados paralelos valem para todas as combinações de threads e grades, inclusive a 2x2 e a 3x3 do enunciado e um bloco por célula. O tabuleiro de xadrez teria 41 objetos com conectividade 4 e tem 1 com conectividade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mesma matriz gerada por semente nas duas versões; clock_gettime(CLOCK_MONOTONIC); geração excluída do tempo; 1 aquecimento; configurações intercaladas para que variações da máquina afetem todas por igual. Com 1 thread, a paralela empata com a sequencial: a estrutura extra custa cerca de 3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patamar pelo número de núcleos. Para matrizes pequenas, o tempo cresce com o número de threads, o que mostra que o custo é o de pthread_create/join. Em 500x500 já há ganho: 2,79 com 4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aprendizado principal: particionar os dados para que cada thread escreva só na sua região simplifica a sincronização.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E276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Shape 0"/>
          <p:cNvSpPr/>
          <p:nvPr/>
        </p:nvSpPr>
        <p:spPr>
          <a:xfrm>
            <a:off x="457200" y="868680"/>
            <a:ext cx="548640" cy="457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178"/>
                </a:solidFill>
              </a:rPr>
              <a:t>Sistemas Operacionais 2026/II  ·  Contagem paralela de objetos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772E"/>
                </a:solidFill>
              </a:rPr>
              <a:t>SISTEMAS OPERACIONAIS 2026/II  ·  PUCRS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Contagem paralela de objetos em uma matriz binária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Versão sequencial e versão paralela com POSIX Threads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Lucas Gaelzer Machado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23200069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Stefan Chagas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23200106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Prof. Filipo Novo Mór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97880" y="1051560"/>
            <a:ext cx="347472" cy="347472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5352" y="1051560"/>
            <a:ext cx="347472" cy="347472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92824" y="105156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0296" y="105156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87768" y="105156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105156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82712" y="105156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0184" y="105156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99032"/>
            <a:ext cx="347472" cy="347472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2824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0296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7768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82712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0184" y="139903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45352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2824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0296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7768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82712" y="1746504"/>
            <a:ext cx="347472" cy="347472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174650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0939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45352" y="20939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2824" y="20939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40296" y="2093976"/>
            <a:ext cx="347472" cy="347472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87768" y="2093976"/>
            <a:ext cx="347472" cy="347472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5240" y="20939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82712" y="2093976"/>
            <a:ext cx="347472" cy="347472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0184" y="20939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97880" y="244144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5352" y="244144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92824" y="244144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441448"/>
            <a:ext cx="347472" cy="347472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87768" y="2441448"/>
            <a:ext cx="347472" cy="347472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244144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82712" y="244144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30184" y="244144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97880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45352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92824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0296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87768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35240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82712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30184" y="27889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97880" y="313639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45352" y="313639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92824" y="3136392"/>
            <a:ext cx="347472" cy="347472"/>
          </a:xfrm>
          <a:prstGeom prst="rect">
            <a:avLst/>
          </a:prstGeom>
          <a:solidFill>
            <a:srgbClr val="EDA100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40296" y="313639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87768" y="313639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35240" y="313639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982712" y="313639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30184" y="3136392"/>
            <a:ext cx="347472" cy="347472"/>
          </a:xfrm>
          <a:prstGeom prst="rect">
            <a:avLst/>
          </a:prstGeom>
          <a:solidFill>
            <a:srgbClr val="E87BA4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97880" y="348386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45352" y="348386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92824" y="3483864"/>
            <a:ext cx="347472" cy="347472"/>
          </a:xfrm>
          <a:prstGeom prst="rect">
            <a:avLst/>
          </a:prstGeom>
          <a:solidFill>
            <a:srgbClr val="EDA100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40296" y="348386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87768" y="348386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635240" y="348386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82712" y="3483864"/>
            <a:ext cx="347472" cy="347472"/>
          </a:xfrm>
          <a:prstGeom prst="rect">
            <a:avLst/>
          </a:prstGeom>
          <a:solidFill>
            <a:srgbClr val="E87BA4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0184" y="3483864"/>
            <a:ext cx="347472" cy="347472"/>
          </a:xfrm>
          <a:prstGeom prst="rect">
            <a:avLst/>
          </a:prstGeom>
          <a:solidFill>
            <a:srgbClr val="E87BA4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61304" y="2441448"/>
            <a:ext cx="2852928" cy="0"/>
          </a:xfrm>
          <a:prstGeom prst="line">
            <a:avLst/>
          </a:prstGeom>
          <a:noFill/>
          <a:ln w="31750">
            <a:solidFill>
              <a:srgbClr val="E8772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87768" y="1014984"/>
            <a:ext cx="0" cy="2852928"/>
          </a:xfrm>
          <a:prstGeom prst="line">
            <a:avLst/>
          </a:prstGeom>
          <a:noFill/>
          <a:ln w="31750">
            <a:solidFill>
              <a:srgbClr val="E8772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89788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Exemplo 3 do enunciado: 5 objetos, grade 2x2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O problema: contar objetos com conectividade 8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D2A"/>
                </a:solidFill>
              </a:rPr>
              <a:t>0 = fundo, 1 = primeiro plano.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D2A"/>
                </a:solidFill>
              </a:rPr>
              <a:t>Um objeto é um grupo de células 1 ligadas na horizontal, na vertical ou na diagonal.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D2A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1D2A"/>
                </a:solidFill>
              </a:rPr>
              <a:t>Cada célula tem 8 vizinhos.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178"/>
                </a:solidFill>
              </a:rPr>
              <a:t>Sem as diagonais (conectividade 4), um tabuleiro de xadrez 9 x 9 teria 41 objetos; com conectividade 8, é um só.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34290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5478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Desafio da versão paralela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Um objeto pode atravessar as divisões da matriz. Somar as contagens de cada região conta o mesmo objeto mais de uma vez.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502920" cy="502920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234440"/>
            <a:ext cx="502920" cy="502920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12344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2344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12344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737360"/>
            <a:ext cx="502920" cy="502920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1737360"/>
            <a:ext cx="502920" cy="502920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893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9516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173736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2240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240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893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95160" y="2240280"/>
            <a:ext cx="502920" cy="502920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951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98080" y="22402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27432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89320" y="27432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893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27432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92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995160" y="2743200"/>
            <a:ext cx="502920" cy="502920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951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0" y="27432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0" y="3246120"/>
            <a:ext cx="502920" cy="502920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989320" y="32461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9893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92240" y="32461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922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995160" y="32461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9951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498080" y="32461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98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7BA"/>
                </a:solidFill>
              </a:rPr>
              <a:t>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Exemplo 1 (5 x 5): 3 objetos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Estratégia: POSIX Threads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178"/>
                </a:solidFill>
              </a:rPr>
              <a:t>Processos (fork)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178"/>
                </a:solidFill>
              </a:rPr>
              <a:t>Memória isolada: rótulos e equivalências precisariam de mmap ou pipes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178"/>
                </a:solidFill>
              </a:rPr>
              <a:t>Criação mais cara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178"/>
                </a:solidFill>
              </a:rPr>
              <a:t>Mais recursos para liberar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Pthreads  ✓ escolhida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Matriz e rótulos já compartilhados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Criação barata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Risco: condições de corrida → mutex e particionamento dos dados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Ideia central: </a:t>
            </a:r>
            <a:pPr indent="0" marL="0">
              <a:buNone/>
            </a:pPr>
            <a:r>
              <a:rPr lang="en-US" sz="1300" dirty="0">
                <a:solidFill>
                  <a:srgbClr val="1B1D2A"/>
                </a:solidFill>
              </a:rPr>
              <a:t>dividir a matriz em blocos, rotular cada bloco em paralelo e depois unir os pedaços de objetos que se tocam nas fronteiras.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Versão sequencial: flood fill iterativo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15214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A"/>
                </a:solidFill>
              </a:rPr>
              <a:t>Percorre a matriz linha a linha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</a:rPr>
              <a:t>Vetor de rótulos zerado marca o que já foi visitado.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97510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A"/>
                </a:solidFill>
              </a:rPr>
              <a:t>Célula 1 sem rótulo → novo objeto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</a:rPr>
              <a:t>Incrementa o contador e empilha a célula.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79806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A"/>
                </a:solidFill>
              </a:rPr>
              <a:t>Desempilha e testa os 8 vizinhos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</a:rPr>
              <a:t>Vizinho 1 e não visitado recebe o rótulo ao ser empilhado (nunca entra duas vezes).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6210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A"/>
                </a:solidFill>
              </a:rPr>
              <a:t>Pilha explícita no heap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</a:rPr>
              <a:t>Sem recursão: objetos com milhões de células não estouram a pilha de chamadas.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658368" cy="658368"/>
          </a:xfrm>
          <a:prstGeom prst="rect">
            <a:avLst/>
          </a:prstGeom>
          <a:solidFill>
            <a:srgbClr val="FCE3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325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-1,-1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22008" y="1325880"/>
            <a:ext cx="658368" cy="658368"/>
          </a:xfrm>
          <a:prstGeom prst="rect">
            <a:avLst/>
          </a:prstGeom>
          <a:solidFill>
            <a:srgbClr val="DCE8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22008" y="1325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-1,+0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0376" y="1325880"/>
            <a:ext cx="658368" cy="658368"/>
          </a:xfrm>
          <a:prstGeom prst="rect">
            <a:avLst/>
          </a:prstGeom>
          <a:solidFill>
            <a:srgbClr val="FCE3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0376" y="1325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-1,+1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984248"/>
            <a:ext cx="658368" cy="658368"/>
          </a:xfrm>
          <a:prstGeom prst="rect">
            <a:avLst/>
          </a:prstGeom>
          <a:solidFill>
            <a:srgbClr val="DCE8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1984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+0,-1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22008" y="1984248"/>
            <a:ext cx="658368" cy="658368"/>
          </a:xfrm>
          <a:prstGeom prst="rect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22008" y="1984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(r,c)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0376" y="1984248"/>
            <a:ext cx="658368" cy="658368"/>
          </a:xfrm>
          <a:prstGeom prst="rect">
            <a:avLst/>
          </a:prstGeom>
          <a:solidFill>
            <a:srgbClr val="DCE8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0376" y="19842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+0,+1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642616"/>
            <a:ext cx="658368" cy="658368"/>
          </a:xfrm>
          <a:prstGeom prst="rect">
            <a:avLst/>
          </a:prstGeom>
          <a:solidFill>
            <a:srgbClr val="FCE3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6426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+1,-1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22008" y="2642616"/>
            <a:ext cx="658368" cy="658368"/>
          </a:xfrm>
          <a:prstGeom prst="rect">
            <a:avLst/>
          </a:prstGeom>
          <a:solidFill>
            <a:srgbClr val="DCE8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22008" y="26426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+1,+0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0376" y="2642616"/>
            <a:ext cx="658368" cy="658368"/>
          </a:xfrm>
          <a:prstGeom prst="rect">
            <a:avLst/>
          </a:prstGeom>
          <a:solidFill>
            <a:srgbClr val="FCE3D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0376" y="26426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D2A"/>
                </a:solidFill>
              </a:rPr>
              <a:t>+1,+1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3429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DEF"/>
                </a:solidFill>
              </a:rPr>
              <a:t>■ </a:t>
            </a:r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</a:rPr>
              <a:t>horizontal/vertical   </a:t>
            </a:r>
            <a:pPr algn="ctr" indent="0" marL="0">
              <a:buNone/>
            </a:pPr>
            <a:r>
              <a:rPr lang="en-US" sz="950" dirty="0">
                <a:solidFill>
                  <a:srgbClr val="F5BE98"/>
                </a:solidFill>
              </a:rPr>
              <a:t>■ </a:t>
            </a:r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</a:rPr>
              <a:t>diagonal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379476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07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D2A"/>
                </a:solidFill>
              </a:rPr>
              <a:t>Tempo O(L·C)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cada célula é empilhada no máximo uma vez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Decomposição: grade de blocos e fila dinâmica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713232" cy="713232"/>
          </a:xfrm>
          <a:prstGeom prst="rect">
            <a:avLst/>
          </a:prstGeom>
          <a:solidFill>
            <a:srgbClr val="2A78D6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261872" y="1188720"/>
            <a:ext cx="713232" cy="713232"/>
          </a:xfrm>
          <a:prstGeom prst="rect">
            <a:avLst/>
          </a:prstGeom>
          <a:solidFill>
            <a:srgbClr val="E8772E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61872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75104" y="1188720"/>
            <a:ext cx="713232" cy="713232"/>
          </a:xfrm>
          <a:prstGeom prst="rect">
            <a:avLst/>
          </a:prstGeom>
          <a:solidFill>
            <a:srgbClr val="1BAF7A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75104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88336" y="1188720"/>
            <a:ext cx="713232" cy="713232"/>
          </a:xfrm>
          <a:prstGeom prst="rect">
            <a:avLst/>
          </a:prstGeom>
          <a:solidFill>
            <a:srgbClr val="EDA100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8336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901952"/>
            <a:ext cx="713232" cy="713232"/>
          </a:xfrm>
          <a:prstGeom prst="rect">
            <a:avLst/>
          </a:prstGeom>
          <a:solidFill>
            <a:srgbClr val="E8772E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019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61872" y="1901952"/>
            <a:ext cx="713232" cy="713232"/>
          </a:xfrm>
          <a:prstGeom prst="rect">
            <a:avLst/>
          </a:prstGeom>
          <a:solidFill>
            <a:srgbClr val="2A78D6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61872" y="19019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75104" y="1901952"/>
            <a:ext cx="713232" cy="713232"/>
          </a:xfrm>
          <a:prstGeom prst="rect">
            <a:avLst/>
          </a:prstGeom>
          <a:solidFill>
            <a:srgbClr val="EDA100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9019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88336" y="1901952"/>
            <a:ext cx="713232" cy="713232"/>
          </a:xfrm>
          <a:prstGeom prst="rect">
            <a:avLst/>
          </a:prstGeom>
          <a:solidFill>
            <a:srgbClr val="1BAF7A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88336" y="19019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B7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713232" cy="713232"/>
          </a:xfrm>
          <a:prstGeom prst="rect">
            <a:avLst/>
          </a:prstGeom>
          <a:solidFill>
            <a:srgbClr val="1BAF7A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6151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61872" y="2615184"/>
            <a:ext cx="713232" cy="713232"/>
          </a:xfrm>
          <a:prstGeom prst="rect">
            <a:avLst/>
          </a:prstGeom>
          <a:solidFill>
            <a:srgbClr val="EDA100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61872" y="26151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B9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75104" y="2615184"/>
            <a:ext cx="713232" cy="713232"/>
          </a:xfrm>
          <a:prstGeom prst="rect">
            <a:avLst/>
          </a:prstGeom>
          <a:solidFill>
            <a:srgbClr val="2A78D6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975104" y="26151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88336" y="2615184"/>
            <a:ext cx="713232" cy="713232"/>
          </a:xfrm>
          <a:prstGeom prst="rect">
            <a:avLst/>
          </a:prstGeom>
          <a:solidFill>
            <a:srgbClr val="E8772E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88336" y="26151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328416"/>
            <a:ext cx="713232" cy="713232"/>
          </a:xfrm>
          <a:prstGeom prst="rect">
            <a:avLst/>
          </a:prstGeom>
          <a:solidFill>
            <a:srgbClr val="EDA100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3284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261872" y="3328416"/>
            <a:ext cx="713232" cy="713232"/>
          </a:xfrm>
          <a:prstGeom prst="rect">
            <a:avLst/>
          </a:prstGeom>
          <a:solidFill>
            <a:srgbClr val="1BAF7A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61872" y="33284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75104" y="3328416"/>
            <a:ext cx="713232" cy="713232"/>
          </a:xfrm>
          <a:prstGeom prst="rect">
            <a:avLst/>
          </a:prstGeom>
          <a:solidFill>
            <a:srgbClr val="E8772E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75104" y="33284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88336" y="3328416"/>
            <a:ext cx="713232" cy="713232"/>
          </a:xfrm>
          <a:prstGeom prst="rect">
            <a:avLst/>
          </a:prstGeom>
          <a:solidFill>
            <a:srgbClr val="2A78D6">
              <a:alpha val="85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88336" y="33284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B15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8"/>
                </a:solidFill>
              </a:rPr>
              <a:t>Ex.: -t 2 → grade 4x4 (padrão 2T x 2T). Cores = thread que retirou o bloco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023360" y="11887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06240" y="1280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Blocos retangulares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D2A"/>
                </a:solidFill>
              </a:rPr>
              <a:t>-b LxC configura a grade; padrão 2T x 2T. Faixa i começa em ⌊i·n/B⌋, então as sobras se espalham.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023360" y="22402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06240" y="23317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Fila dinâmica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D2A"/>
                </a:solidFill>
              </a:rPr>
              <a:t>Um contador proximo_bloco protegido por mutex_fila. Cada thread pega o próximo bloco livre até esvaziar.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023360" y="3291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06240" y="33832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Por quê?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B1D2A"/>
                </a:solidFill>
              </a:rPr>
              <a:t>Mais blocos que threads equilibra regiões densas e esparsas; blocos têm menos borda que faixas.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Fases e sincronização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298448"/>
            <a:ext cx="1655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Fase 1</a:t>
            </a:r>
            <a:endParaRPr lang="en-US" sz="130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</a:rPr>
              <a:t>PARALELA</a:t>
            </a:r>
            <a:endParaRPr lang="en-US" sz="13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flood fill dentro de cada bloco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rótulos locais 1, 2, 3…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59152" y="1783080"/>
            <a:ext cx="192024" cy="228600"/>
          </a:xfrm>
          <a:prstGeom prst="rightArrow">
            <a:avLst/>
          </a:prstGeom>
          <a:solidFill>
            <a:srgbClr val="E87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40280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72E"/>
                </a:solidFill>
              </a:rPr>
              <a:t>join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78608" y="1188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7A83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88336" y="1298448"/>
            <a:ext cx="1655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Prefixos</a:t>
            </a:r>
            <a:endParaRPr lang="en-US" sz="130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</a:rPr>
              <a:t>SEQUENCIAL</a:t>
            </a:r>
            <a:endParaRPr lang="en-US" sz="13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rótulo global =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deslocamento[bloco] + local − 1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783080"/>
            <a:ext cx="192024" cy="228600"/>
          </a:xfrm>
          <a:prstGeom prst="rightArrow">
            <a:avLst/>
          </a:prstGeom>
          <a:solidFill>
            <a:srgbClr val="E8772E"/>
          </a:solidFill>
          <a:ln/>
        </p:spPr>
      </p:sp>
      <p:sp>
        <p:nvSpPr>
          <p:cNvPr id="10" name="Shape 8"/>
          <p:cNvSpPr/>
          <p:nvPr/>
        </p:nvSpPr>
        <p:spPr>
          <a:xfrm>
            <a:off x="4700016" y="1188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9744" y="1298448"/>
            <a:ext cx="1655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Fase 2</a:t>
            </a:r>
            <a:endParaRPr lang="en-US" sz="130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</a:rPr>
              <a:t>PARALELA</a:t>
            </a:r>
            <a:endParaRPr lang="en-US" sz="13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bordas direita e inferior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uniões em lote (mutex)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01968" y="1783080"/>
            <a:ext cx="192024" cy="228600"/>
          </a:xfrm>
          <a:prstGeom prst="rightArrow">
            <a:avLst/>
          </a:prstGeom>
          <a:solidFill>
            <a:srgbClr val="E877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83096" y="20574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72E"/>
                </a:solidFill>
              </a:rPr>
              <a:t>join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21424" y="11887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7A83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31152" y="1298448"/>
            <a:ext cx="16550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Contagem</a:t>
            </a:r>
            <a:endParaRPr lang="en-US" sz="1300" dirty="0"/>
          </a:p>
          <a:p>
            <a:pPr algn="ct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</a:rPr>
              <a:t>SEQUENCIAL</a:t>
            </a:r>
            <a:endParaRPr lang="en-US" sz="13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raízes da union-find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= número de objetos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834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Matriz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283464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somente leitura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45536"/>
            <a:ext cx="8138160" cy="0"/>
          </a:xfrm>
          <a:prstGeom prst="line">
            <a:avLst/>
          </a:prstGeom>
          <a:noFill/>
          <a:ln w="9525">
            <a:solidFill>
              <a:srgbClr val="D5DA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163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Rótulos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31638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cada bloco é escrito por uma única thread; a fase 2 só lê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8138160" cy="0"/>
          </a:xfrm>
          <a:prstGeom prst="line">
            <a:avLst/>
          </a:prstGeom>
          <a:noFill/>
          <a:ln w="9525">
            <a:solidFill>
              <a:srgbClr val="D5DA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4930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Fila de blocos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34930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mutex_fila em volta do contador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03904"/>
            <a:ext cx="8138160" cy="0"/>
          </a:xfrm>
          <a:prstGeom prst="line">
            <a:avLst/>
          </a:prstGeom>
          <a:noFill/>
          <a:ln w="9525">
            <a:solidFill>
              <a:srgbClr val="D5DA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Union-find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057400" y="3822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mutex_uniao, uma vez por lote de até 4096 pares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133088"/>
            <a:ext cx="8138160" cy="0"/>
          </a:xfrm>
          <a:prstGeom prst="line">
            <a:avLst/>
          </a:prstGeom>
          <a:noFill/>
          <a:ln w="9525">
            <a:solidFill>
              <a:srgbClr val="D5DA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1513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Deadlock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057400" y="415137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impossível: nenhuma thread segura dois mutexes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Consolidação: por que somar não basta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" cy="402336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50976" y="1188720"/>
            <a:ext cx="402336" cy="402336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53312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57984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591056"/>
            <a:ext cx="402336" cy="402336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50976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3312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55648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57984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2656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53312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55648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57984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2656" y="1993392"/>
            <a:ext cx="402336" cy="402336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6265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64992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53312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55648" y="2395728"/>
            <a:ext cx="402336" cy="402336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5564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57984" y="2395728"/>
            <a:ext cx="402336" cy="402336"/>
          </a:xfrm>
          <a:prstGeom prst="rect">
            <a:avLst/>
          </a:prstGeom>
          <a:solidFill>
            <a:srgbClr val="EDA100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157984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0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2656" y="2395728"/>
            <a:ext cx="402336" cy="402336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62656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64992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0976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3312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55648" y="2798064"/>
            <a:ext cx="402336" cy="402336"/>
          </a:xfrm>
          <a:prstGeom prst="rect">
            <a:avLst/>
          </a:prstGeom>
          <a:solidFill>
            <a:srgbClr val="E87BA4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755648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157984" y="2798064"/>
            <a:ext cx="402336" cy="402336"/>
          </a:xfrm>
          <a:prstGeom prst="rect">
            <a:avLst/>
          </a:prstGeom>
          <a:solidFill>
            <a:srgbClr val="008300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57984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0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62656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64992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8640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0976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53312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55648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57984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0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62656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364992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8640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0976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53312" y="3602736"/>
            <a:ext cx="402336" cy="402336"/>
          </a:xfrm>
          <a:prstGeom prst="rect">
            <a:avLst/>
          </a:prstGeom>
          <a:solidFill>
            <a:srgbClr val="4A3AA7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35331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755648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157984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560320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62656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64992" y="3602736"/>
            <a:ext cx="402336" cy="402336"/>
          </a:xfrm>
          <a:prstGeom prst="rect">
            <a:avLst/>
          </a:prstGeom>
          <a:solidFill>
            <a:srgbClr val="7A8399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36499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G7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0976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53312" y="4005072"/>
            <a:ext cx="402336" cy="402336"/>
          </a:xfrm>
          <a:prstGeom prst="rect">
            <a:avLst/>
          </a:prstGeom>
          <a:solidFill>
            <a:srgbClr val="4A3AA7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3533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755648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57984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60320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62656" y="4005072"/>
            <a:ext cx="402336" cy="402336"/>
          </a:xfrm>
          <a:prstGeom prst="rect">
            <a:avLst/>
          </a:prstGeom>
          <a:solidFill>
            <a:srgbClr val="7A8399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962656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G7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364992" y="4005072"/>
            <a:ext cx="402336" cy="402336"/>
          </a:xfrm>
          <a:prstGeom prst="rect">
            <a:avLst/>
          </a:prstGeom>
          <a:solidFill>
            <a:srgbClr val="7A8399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36499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G7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12064" y="2798064"/>
            <a:ext cx="3291840" cy="0"/>
          </a:xfrm>
          <a:prstGeom prst="line">
            <a:avLst/>
          </a:prstGeom>
          <a:noFill/>
          <a:ln w="31750">
            <a:solidFill>
              <a:srgbClr val="E8772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157984" y="1152144"/>
            <a:ext cx="0" cy="3291840"/>
          </a:xfrm>
          <a:prstGeom prst="line">
            <a:avLst/>
          </a:prstGeom>
          <a:noFill/>
          <a:ln w="31750">
            <a:solidFill>
              <a:srgbClr val="E8772E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48640" y="44622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8"/>
                </a:solidFill>
              </a:rPr>
              <a:t>Exemplo 3, grade 2x2, antes da consolidação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160520" y="118872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251960" y="12344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772E"/>
                </a:solidFill>
              </a:rPr>
              <a:t>8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soma simples dos componentes locais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6537960" y="1188720"/>
            <a:ext cx="2148840" cy="1325880"/>
          </a:xfrm>
          <a:prstGeom prst="roundRect">
            <a:avLst>
              <a:gd name="adj" fmla="val 5517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629400" y="123444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AF7A"/>
                </a:solidFill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objetos de verdade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4160520" y="274320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D2A"/>
                </a:solidFill>
              </a:rPr>
              <a:t>O objeto central de 2x2 cai nos 4 blocos e vira G1, G3, G4 e G6.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1B1D2A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Rótulos globais únicos sem coordenação: </a:t>
            </a:r>
            <a:pPr indent="0" marL="0">
              <a:buNone/>
            </a:pPr>
            <a:r>
              <a:rPr lang="en-US" sz="1250" dirty="0">
                <a:solidFill>
                  <a:srgbClr val="1B1D2A"/>
                </a:solidFill>
              </a:rPr>
              <a:t>depois da fase 1, uma soma de prefixos sobre os componentes de cada bloco dá a cada bloco uma faixa própria de rótulos.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Fronteiras, diagonais e o encontro de 4 blocos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D2A"/>
                </a:solidFill>
              </a:rPr>
              <a:t>Cada bloco examina só a borda direita e a inferior, então cada fronteira é vista uma vez.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rgbClr val="1B1D2A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1D2A"/>
                </a:solidFill>
              </a:rPr>
              <a:t>Cada célula 1 da borda testa 3 vizinhos do outro lado: em frente e as duas diagonais. Isso cobre também a quina onde 4 blocos se encontram.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852928"/>
            <a:ext cx="36576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G1 ~ G3   horizontal  (3,3)-(3,4)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G1 ~ G4   vertical    (3,3)-(4,3)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BE9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G1 ~ G6   diagonal    (3,3)-(4,4)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5BE9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G3 ~ G4   antidiagonal (3,4)-(4,3)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AA3B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... 8 pares → 3 uniões efetivas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</a:rPr>
              <a:t>Union-find: a menor raiz vira o representante, então a ordem das uniões não muda o resultado.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188720"/>
            <a:ext cx="402336" cy="402336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94376" y="1188720"/>
            <a:ext cx="402336" cy="402336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94376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96712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48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01384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08392" y="118872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591056"/>
            <a:ext cx="402336" cy="402336"/>
          </a:xfrm>
          <a:prstGeom prst="rect">
            <a:avLst/>
          </a:prstGeom>
          <a:solidFill>
            <a:srgbClr val="2A78D6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94376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96712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9048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1384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06056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8392" y="159105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94376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96712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9048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1384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06056" y="1993392"/>
            <a:ext cx="402336" cy="402336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0605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08392" y="199339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94376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96712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048" y="2395728"/>
            <a:ext cx="402336" cy="402336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9904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01384" y="2395728"/>
            <a:ext cx="402336" cy="402336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01384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03720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06056" y="2395728"/>
            <a:ext cx="402336" cy="402336"/>
          </a:xfrm>
          <a:prstGeom prst="rect">
            <a:avLst/>
          </a:prstGeom>
          <a:solidFill>
            <a:srgbClr val="1BAF7A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06056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708392" y="2395728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94376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96712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99048" y="2798064"/>
            <a:ext cx="402336" cy="402336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099048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01384" y="2798064"/>
            <a:ext cx="402336" cy="402336"/>
          </a:xfrm>
          <a:prstGeom prst="rect">
            <a:avLst/>
          </a:prstGeom>
          <a:solidFill>
            <a:srgbClr val="E8772E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01384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03720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06056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08392" y="279806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92040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94376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96712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9048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01384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06056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08392" y="3200400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892040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294376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96712" y="3602736"/>
            <a:ext cx="402336" cy="402336"/>
          </a:xfrm>
          <a:prstGeom prst="rect">
            <a:avLst/>
          </a:prstGeom>
          <a:solidFill>
            <a:srgbClr val="4A3AA7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69671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G5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99048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01384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03720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06056" y="3602736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08392" y="3602736"/>
            <a:ext cx="402336" cy="402336"/>
          </a:xfrm>
          <a:prstGeom prst="rect">
            <a:avLst/>
          </a:prstGeom>
          <a:solidFill>
            <a:srgbClr val="7A8399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708392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G7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92040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94376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96712" y="4005072"/>
            <a:ext cx="402336" cy="402336"/>
          </a:xfrm>
          <a:prstGeom prst="rect">
            <a:avLst/>
          </a:prstGeom>
          <a:solidFill>
            <a:srgbClr val="4A3AA7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69671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099048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501384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03720" y="4005072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06056" y="4005072"/>
            <a:ext cx="402336" cy="402336"/>
          </a:xfrm>
          <a:prstGeom prst="rect">
            <a:avLst/>
          </a:prstGeom>
          <a:solidFill>
            <a:srgbClr val="7A8399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306056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G7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708392" y="4005072"/>
            <a:ext cx="402336" cy="402336"/>
          </a:xfrm>
          <a:prstGeom prst="rect">
            <a:avLst/>
          </a:prstGeom>
          <a:solidFill>
            <a:srgbClr val="7A8399"/>
          </a:solidFill>
          <a:ln w="6350">
            <a:solidFill>
              <a:srgbClr val="B9C0D3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70839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G7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855464" y="2798064"/>
            <a:ext cx="3291840" cy="0"/>
          </a:xfrm>
          <a:prstGeom prst="line">
            <a:avLst/>
          </a:prstGeom>
          <a:noFill/>
          <a:ln w="31750">
            <a:solidFill>
              <a:srgbClr val="E8772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01384" y="1152144"/>
            <a:ext cx="0" cy="3291840"/>
          </a:xfrm>
          <a:prstGeom prst="line">
            <a:avLst/>
          </a:prstGeom>
          <a:noFill/>
          <a:ln w="31750">
            <a:solidFill>
              <a:srgbClr val="E8772E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892040" y="44622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8"/>
                </a:solidFill>
              </a:rPr>
              <a:t>Depois da união: G0, G1, G2, G5, G7 → 5 objetos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Demonstração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520440"/>
          </a:xfrm>
          <a:prstGeom prst="roundRect">
            <a:avLst>
              <a:gd name="adj" fmla="val 1558"/>
            </a:avLst>
          </a:prstGeom>
          <a:solidFill>
            <a:srgbClr val="151A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252728"/>
            <a:ext cx="79552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AA3B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make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BE9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./conta-objetos-sequencial tests/obrigatorios/exemplo3.txt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Objetos: 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BE9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./conta-objetos-paralelo -t 2 -b 2x2 -v tests/obrigatorios/exemplo3.txt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Componentes locais (soma simples): 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[thread 0] equivalencia G1 ~ G3  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Objetos: 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BE9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make test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== Resultado: 743 verificacoes, 0 falha(s)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BE9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./conta-objetos-paralelo -t 4 -v -g 8000 8000 0.30 2026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Tempo por etapa (ms): ... fase 1 (paralela) 154.356 | prefixos 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9F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union-find 2.045 | fase 2 (paralela) 0.649 | contagem 0.856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Testes de correção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743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verificações, 0 falhas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D2A"/>
                </a:solidFill>
              </a:rPr>
              <a:t>5 obrigatórias + 10 adicionais × 1, 2, 3, 4, 8 threads × 7 grades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D2A"/>
                </a:solidFill>
              </a:rPr>
              <a:t>50 repetições: sempre o mesmo resultado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D2A"/>
                </a:solidFill>
              </a:rPr>
              <a:t>200 matrizes aleatórias: sequencial = paralela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D2A"/>
                </a:solidFill>
              </a:rPr>
              <a:t>Oráculo independente em Python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1D2A"/>
                </a:solidFill>
              </a:rPr>
              <a:t>ThreadSanitizer, Helgrind, Valgrind: 0 erros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100584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Dimensões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Esperado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Sequencial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Paralelo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5 x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6 x 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8 x 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9 x 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12 x 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D2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74904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</a:rPr>
              <a:t>Casos adicionais: só zeros, serpentina por todos os blocos, tabuleiro de xadrez (só diagonais), X cruzando a quina, 1 x 20, 14 x 1, 1 x 1…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Desempenho: matriz 8000 x 8000</a:t>
            </a:r>
            <a:endParaRPr lang="en-US" sz="2400" dirty="0"/>
          </a:p>
        </p:txBody>
      </p:sp>
      <p:pic>
        <p:nvPicPr>
          <p:cNvPr id="3" name="Image 0" descr="/mnt/user-data/uploads/faculdade/sisop-conta-objetos/results/grafico-tem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20640" cy="30723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178"/>
                </a:solidFill>
              </a:rPr>
              <a:t>Mediana de 10 repetições intercaladas; 4 núcleos; 3.023.082 objetos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760720" y="11887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261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E"/>
                </a:solidFill>
              </a:rPr>
              <a:t>3,77×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aceleração com 4 threads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22402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3134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72E"/>
                </a:solidFill>
              </a:rPr>
              <a:t>0,94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eficiência com 4 threads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329184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9525">
            <a:solidFill>
              <a:srgbClr val="D5DA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33649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560 → 149 ms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sequencial → paralela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Escalabilidade e quando o paralelo perde</a:t>
            </a:r>
            <a:endParaRPr lang="en-US" sz="2400" dirty="0"/>
          </a:p>
        </p:txBody>
      </p:sp>
      <p:pic>
        <p:nvPicPr>
          <p:cNvPr id="3" name="Image 0" descr="/mnt/user-data/uploads/faculdade/sisop-conta-objetos/results/grafico-acele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57200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66360" y="11430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Até 4 threads: </a:t>
            </a:r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quase linear. Fase 1 = 98% do tempo; consolidação &lt; 1%.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1B1D2A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6 e 8 threads: </a:t>
            </a:r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patamar de cerca de 3,75. Só há 4 núcleos; as threads extras dividem os mesmos núcleos.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1B1D2A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Amdahl: </a:t>
            </a:r>
            <a:pPr indent="0" marL="0">
              <a:buNone/>
            </a:pPr>
            <a:r>
              <a:rPr lang="en-US" sz="1150" dirty="0">
                <a:solidFill>
                  <a:srgbClr val="1B1D2A"/>
                </a:solidFill>
              </a:rPr>
              <a:t>cerca de 0,55% sequencial → máximo de 3,94 com 4 núcleos.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9525">
            <a:solidFill>
              <a:srgbClr val="FDEE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0050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A"/>
                </a:solidFill>
              </a:rPr>
              <a:t>Exemplo 5 (12 x 12): sequencial 0,003 ms; paralela 0,073 ms (1 thread) a 0,224 ms (8 threads). </a:t>
            </a:r>
            <a:pPr indent="0" marL="0">
              <a:buNone/>
            </a:pPr>
            <a:r>
              <a:rPr lang="en-US" sz="1100" dirty="0">
                <a:solidFill>
                  <a:srgbClr val="1B1D2A"/>
                </a:solidFill>
              </a:rPr>
              <a:t>Até 75× mais lenta: criar e esperar threads custa mais que contar 144 células.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1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Conclusões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48640" cy="45720"/>
          </a:xfrm>
          <a:prstGeom prst="rect">
            <a:avLst/>
          </a:prstGeom>
          <a:solidFill>
            <a:srgbClr val="E8772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10896" cy="310896"/>
          </a:xfrm>
          <a:prstGeom prst="ellipse">
            <a:avLst/>
          </a:prstGeom>
          <a:solidFill>
            <a:srgbClr val="E877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Correto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Sequencial e paralela idênticas em 743 verificações, com conectividade 8 inclusive nas quinas.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310896" cy="310896"/>
          </a:xfrm>
          <a:prstGeom prst="ellipse">
            <a:avLst/>
          </a:prstGeom>
          <a:solidFill>
            <a:srgbClr val="E877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21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7627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Rápido onde importa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Aceleração de 3,77 com 4 threads em 8000 x 8000; nas matrizes minúsculas a sobrecarga domina.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310896" cy="310896"/>
          </a:xfrm>
          <a:prstGeom prst="ellipse">
            <a:avLst/>
          </a:prstGeom>
          <a:solidFill>
            <a:srgbClr val="E87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980944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difícil é juntar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Dividir é simples. Consolidar exige rótulos únicos, diagonais e uma union-find protegida.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310896" cy="310896"/>
          </a:xfrm>
          <a:prstGeom prst="ellipse">
            <a:avLst/>
          </a:prstGeom>
          <a:solidFill>
            <a:srgbClr val="E877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85616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Próximo passo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União sem bloqueio com atômicos (C11) e paralelizar a soma de prefixos.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Obrigado!  ·  Lucas Gaelzer Machado e Stefan Chagas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Op Matriz">
  <a:themeElements>
    <a:clrScheme name="SisOp Matriz">
      <a:dk1>
        <a:srgbClr val="1B1D2A"/>
      </a:dk1>
      <a:lt1>
        <a:srgbClr val="FFFFFF"/>
      </a:lt1>
      <a:dk2>
        <a:srgbClr val="1E2761"/>
      </a:dk2>
      <a:lt2>
        <a:srgbClr val="F3F5FA"/>
      </a:lt2>
      <a:accent1>
        <a:srgbClr val="E8772E"/>
      </a:accent1>
      <a:accent2>
        <a:srgbClr val="2A78D6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2A78D6"/>
      </a:hlink>
      <a:folHlink>
        <a:srgbClr val="4A3AA7"/>
      </a:folHlink>
    </a:clrScheme>
    <a:fontScheme name="SisOp Matriz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Contagem paralela de objetos em uma matriz binária</dc:title>
  <dc:subject>Sistemas Operacionais 2026/II - PUCRS</dc:subject>
  <dc:creator>Lucas Gaelzer Machado e Stefan Chagas</dc:creator>
  <cp:lastModifiedBy>Lucas Gaelzer Machado e Stefan Chagas</cp:lastModifiedBy>
  <cp:revision>1</cp:revision>
  <dcterms:created xsi:type="dcterms:W3CDTF">2026-10-06T20:04:14Z</dcterms:created>
  <dcterms:modified xsi:type="dcterms:W3CDTF">2026-10-06T20:04:14Z</dcterms:modified>
</cp:coreProperties>
</file>